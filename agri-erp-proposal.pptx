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914400" cy="9144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農機設備維修販售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系統架構提案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從手寫登帳到全數位化  LINE Bot x AI x 電子發票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22"/>
          </a:solidFill>
          <a:ln w="12700">
            <a:solidFill>
              <a:srgbClr val="1A2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</a:rPr>
              <a:t>Phase 1 概念確認版  |  2026-06-12  |  基於多租戶 ERP 模板  農業機具維修行業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502920"/>
            <a:ext cx="1737360" cy="594360"/>
          </a:xfrm>
          <a:prstGeom prst="round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502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維修工單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1280160"/>
            <a:ext cx="1737360" cy="594360"/>
          </a:xfrm>
          <a:prstGeom prst="round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280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AI 解析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2057400"/>
            <a:ext cx="1737360" cy="594360"/>
          </a:xfrm>
          <a:prstGeom prst="round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零件庫存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2834640"/>
            <a:ext cx="1737360" cy="594360"/>
          </a:xfrm>
          <a:prstGeom prst="round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834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🧾 電子發票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3611880"/>
            <a:ext cx="1737360" cy="594360"/>
          </a:xfrm>
          <a:prstGeom prst="round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LINE Bot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現況痛點  vs  解決方案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現在的狀況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1673352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36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手寫維修金額，晚上再補 Excel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18541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148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價格全靠人工記憶（客戶等級）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69748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6609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零件庫存不清楚，靠經驗猜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3209544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172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報價 / 銷貨無法快速查詢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3721608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685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收帳款日期靠人追，容易漏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4233672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197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無電子發票，紙本處理費時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5968" y="2468880"/>
            <a:ext cx="548640" cy="731520"/>
          </a:xfrm>
          <a:prstGeom prst="rightArrow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導入後的改變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38928" y="1673352"/>
            <a:ext cx="219456" cy="21945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1636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LINE Bot 現場即時輸入，AI 解析建單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38928" y="2185416"/>
            <a:ext cx="219456" cy="21945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9824" y="2148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客戶等級系統自動套用報價區間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38928" y="2697480"/>
            <a:ext cx="219456" cy="21945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26609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 類高值零件全面庫存管理 + 預警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38928" y="3209544"/>
            <a:ext cx="219456" cy="21945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3172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工單 / 銷貨單秒查，PDF 一鍵發送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38928" y="3721608"/>
            <a:ext cx="219456" cy="21945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9824" y="3685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月結帳款自動到期提醒 LINE 推播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38928" y="4233672"/>
            <a:ext cx="219456" cy="21945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9824" y="4197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電子發票自動開立（B2B / B2C）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系統模組架構 - 8 大核心功能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0" y="1874520"/>
            <a:ext cx="2194560" cy="1280160"/>
          </a:xfrm>
          <a:prstGeom prst="ellipse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874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農機 ERP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核心平台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1920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192024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10058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🔧 維修管理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" y="1335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工單 / 報工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914400"/>
            <a:ext cx="1920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914400"/>
            <a:ext cx="19202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0058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🛒 整機銷售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95728" y="1335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新機 / 二手機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914400"/>
            <a:ext cx="1920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B40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914400"/>
            <a:ext cx="1920240" cy="54864"/>
          </a:xfrm>
          <a:prstGeom prst="rect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0058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📦 零件庫存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335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進貨 / 盤點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2834640"/>
            <a:ext cx="1920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834640"/>
            <a:ext cx="192024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" y="29260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👥 客戶等級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" y="32552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三級定價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834640"/>
            <a:ext cx="1920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834640"/>
            <a:ext cx="1920240" cy="54864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9260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🤖 AI 助手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32552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語音語意解析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31720" y="3840480"/>
            <a:ext cx="1920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B40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331720" y="3840480"/>
            <a:ext cx="1920240" cy="54864"/>
          </a:xfrm>
          <a:prstGeom prst="rect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95728" y="39319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🧾 電子發票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95728" y="4261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B2B / B2C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840480"/>
            <a:ext cx="19202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840480"/>
            <a:ext cx="1920240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39319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📊 報表儀表板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27448" y="4261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業績 / 庫存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維修工單流程（取代手寫 -&gt; 補 Excel）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325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132588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收件開單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" y="2249424"/>
            <a:ext cx="11978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LINE 輸入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客戶+機型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+故障描述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36192" y="2103120"/>
            <a:ext cx="91440" cy="457200"/>
          </a:xfrm>
          <a:prstGeom prst="rightArrow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4208" y="1005840"/>
            <a:ext cx="1325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64208" y="1005840"/>
            <a:ext cx="1325880" cy="6400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4208" y="10058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64208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診斷報價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28216" y="2249424"/>
            <a:ext cx="11978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依客戶等級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自動帶入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工時+零件費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2103120"/>
            <a:ext cx="91440" cy="457200"/>
          </a:xfrm>
          <a:prstGeom prst="rightArrow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5536" y="1005840"/>
            <a:ext cx="1325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45536" y="1005840"/>
            <a:ext cx="132588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0058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145536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客戶確認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9544" y="2249424"/>
            <a:ext cx="11978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LINE 發送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報價單 PDF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等待確認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98848" y="2103120"/>
            <a:ext cx="91440" cy="457200"/>
          </a:xfrm>
          <a:prstGeom prst="rightArrow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1005840"/>
            <a:ext cx="1325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1005840"/>
            <a:ext cx="1325880" cy="6400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0058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26864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維修作業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90872" y="2249424"/>
            <a:ext cx="11978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AI 語音報工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零件領用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即時記錄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0176" y="2103120"/>
            <a:ext cx="91440" cy="457200"/>
          </a:xfrm>
          <a:prstGeom prst="rightArrow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8192" y="1005840"/>
            <a:ext cx="1325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08192" y="1005840"/>
            <a:ext cx="132588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10058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108192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完工結案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2249424"/>
            <a:ext cx="11978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費用確認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觸發發票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+應收建立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61504" y="2103120"/>
            <a:ext cx="91440" cy="457200"/>
          </a:xfrm>
          <a:prstGeom prst="rightArrow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1005840"/>
            <a:ext cx="13258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0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89520" y="1005840"/>
            <a:ext cx="1325880" cy="640080"/>
          </a:xfrm>
          <a:prstGeom prst="rect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0058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06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58952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LINE 通知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53528" y="2249424"/>
            <a:ext cx="11978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PDF 結算單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取件通知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推播客戶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82880" y="3931920"/>
            <a:ext cx="877824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3E"/>
                </a:solidFill>
              </a:rPr>
              <a:t>🤖 AI 語意解析示範：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  技師說：「阿伯的 HS236 換化油器，工時 1.5 小時，另加機油 2 罐，共 1,800 元」</a:t>
            </a:r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</a:rPr>
              <a:t>  -&gt; AI 自動拆解工項+費用，回傳草稿供確認，一鍵送出，不需手動填表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客戶等級定價體系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840480"/>
          </a:xfrm>
          <a:prstGeom prst="rect">
            <a:avLst/>
          </a:prstGeom>
          <a:solidFill>
            <a:srgbClr val="FFFFFF"/>
          </a:solidFill>
          <a:ln w="3175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★★★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專業維修客戶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883664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379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工時費：優惠折扣價（可設定）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414016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6829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零件費：成本 +10% 左右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944368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9864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到府服務：合約包含/免費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47472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2900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付款：月結 30 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400507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593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LINE 通知優先發送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914400"/>
            <a:ext cx="2743200" cy="3840480"/>
          </a:xfrm>
          <a:prstGeom prst="rect">
            <a:avLst/>
          </a:prstGeom>
          <a:solidFill>
            <a:srgbClr val="FFFFFF"/>
          </a:solidFill>
          <a:ln w="3175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914400"/>
            <a:ext cx="2743200" cy="7772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常客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01568" y="1883664"/>
            <a:ext cx="182880" cy="1828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8379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工時費：一般優惠價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01568" y="2414016"/>
            <a:ext cx="182880" cy="1828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36829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零件費：成本 +20% 左右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01568" y="2944368"/>
            <a:ext cx="182880" cy="1828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89864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到府服務：優惠服務費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1568" y="3474720"/>
            <a:ext cx="182880" cy="1828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42900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付款：月結/現付均可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1568" y="4005072"/>
            <a:ext cx="182880" cy="1828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9593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維修歷史一鍵查閱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B40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914400"/>
            <a:ext cx="2743200" cy="777240"/>
          </a:xfrm>
          <a:prstGeom prst="rect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散戶（一般客戶）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27648" y="1883664"/>
            <a:ext cx="182880" cy="182880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18379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工時費：標準售價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27648" y="2414016"/>
            <a:ext cx="182880" cy="182880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36829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零件費：建議售價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27648" y="2944368"/>
            <a:ext cx="182880" cy="182880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89864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到府服務：標準服務費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27648" y="3474720"/>
            <a:ext cx="182880" cy="182880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42900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付款：現付為主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27648" y="4005072"/>
            <a:ext cx="182880" cy="182880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9593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可升等為常客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5C3E"/>
                </a:solidFill>
              </a:rPr>
              <a:t>所有價格均可在後台主檔設定，支援逐筆手動覆蓋；等級可依消費頻率自動升等或人工調整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零件庫存管理 - ABC 分類優先策略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00584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 類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9601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81328" y="10058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高單價/高周轉 - Phase 1 先納管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1328" y="13716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品項示例：化油器、點火模組、油封組、刀盤、引擎零件、鏈條組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10058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0574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 類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0574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81328" y="21031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中等價值 - Phase 2 納管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2468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品項示例：濾芯組、傳動皮帶、起動繩總成、握把配件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54680"/>
            <a:ext cx="1005840" cy="91440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154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 類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1546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81328" y="32004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低值耗材 - 簡化管理或不納管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35661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品項示例：機油、潤滑脂、螺絲包、鉚釘組、砂紙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196596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22452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E"/>
                </a:solidFill>
              </a:rPr>
              <a:t>📥 進貨管理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450799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LINE 掃碼/手動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多供應商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41448" y="4206240"/>
            <a:ext cx="196596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22452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E"/>
                </a:solidFill>
              </a:rPr>
              <a:t>🔍 安全庫存預警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450799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低庫存自動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LINE 推播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8576" y="4206240"/>
            <a:ext cx="196596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422452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E"/>
                </a:solidFill>
              </a:rPr>
              <a:t>📋 定期盤點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450799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掃碼輸入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盤盈虧計算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75704" y="4206240"/>
            <a:ext cx="196596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8856" y="422452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E"/>
                </a:solidFill>
              </a:rPr>
              <a:t>🔧 維修領用扣庫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8856" y="450799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工單領用後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自動扣減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1220"/>
          </a:solidFill>
          <a:ln w="12700">
            <a:solidFill>
              <a:srgbClr val="09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F3DC"/>
                </a:solidFill>
              </a:rPr>
              <a:t>AI 智能功能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737360"/>
          </a:xfrm>
          <a:prstGeom prst="rect">
            <a:avLst/>
          </a:prstGeom>
          <a:solidFill>
            <a:srgbClr val="14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972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🎙️  語音報工解析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4813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Whisper 語音轉文字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Claude Haiku 拆解工單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說話即完成報工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" y="2359152"/>
            <a:ext cx="1463040" cy="256032"/>
          </a:xfrm>
          <a:prstGeom prst="roundRect">
            <a:avLst/>
          </a:prstGeom>
          <a:solidFill>
            <a:srgbClr val="1A3D55"/>
          </a:solidFill>
          <a:ln w="12700">
            <a:solidFill>
              <a:srgbClr val="2A5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C7A0"/>
                </a:solidFill>
              </a:rPr>
              <a:t>Whisper + Claude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1005840"/>
            <a:ext cx="2743200" cy="1737360"/>
          </a:xfrm>
          <a:prstGeom prst="rect">
            <a:avLst/>
          </a:prstGeom>
          <a:solidFill>
            <a:srgbClr val="14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05840"/>
            <a:ext cx="27432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0972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💬  文字語意建單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14813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輸入自然語言描述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AI 解析客戶、機型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工項、零件、費用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82696" y="2359152"/>
            <a:ext cx="1463040" cy="256032"/>
          </a:xfrm>
          <a:prstGeom prst="roundRect">
            <a:avLst/>
          </a:prstGeom>
          <a:solidFill>
            <a:srgbClr val="1A3D55"/>
          </a:solidFill>
          <a:ln w="12700">
            <a:solidFill>
              <a:srgbClr val="2A5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C7A0"/>
                </a:solidFill>
              </a:rPr>
              <a:t>Claude Haiku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17336" y="1005840"/>
            <a:ext cx="2743200" cy="1737360"/>
          </a:xfrm>
          <a:prstGeom prst="rect">
            <a:avLst/>
          </a:prstGeom>
          <a:solidFill>
            <a:srgbClr val="14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005840"/>
            <a:ext cx="27432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0972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📝  AI 輔助報價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14813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根據歷史維修紀錄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推薦常見工項費用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加速報價流程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7064" y="2359152"/>
            <a:ext cx="1463040" cy="256032"/>
          </a:xfrm>
          <a:prstGeom prst="roundRect">
            <a:avLst/>
          </a:prstGeom>
          <a:solidFill>
            <a:srgbClr val="1A3D55"/>
          </a:solidFill>
          <a:ln w="12700">
            <a:solidFill>
              <a:srgbClr val="2A5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C7A0"/>
                </a:solidFill>
              </a:rPr>
              <a:t>歷史+AI 建議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743200" cy="1737360"/>
          </a:xfrm>
          <a:prstGeom prst="rect">
            <a:avLst/>
          </a:prstGeom>
          <a:solidFill>
            <a:srgbClr val="14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27432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30175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🔍  智慧零件查詢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" y="34015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模糊搜尋料號/品名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顯示庫存+適用機型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支援相似字容錯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" y="4279392"/>
            <a:ext cx="1463040" cy="256032"/>
          </a:xfrm>
          <a:prstGeom prst="roundRect">
            <a:avLst/>
          </a:prstGeom>
          <a:solidFill>
            <a:srgbClr val="1A3D55"/>
          </a:solidFill>
          <a:ln w="12700">
            <a:solidFill>
              <a:srgbClr val="2A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C7A0"/>
                </a:solidFill>
              </a:rPr>
              <a:t>全文搜尋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72968" y="2926080"/>
            <a:ext cx="2743200" cy="1737360"/>
          </a:xfrm>
          <a:prstGeom prst="rect">
            <a:avLst/>
          </a:prstGeom>
          <a:solidFill>
            <a:srgbClr val="14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926080"/>
            <a:ext cx="27432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2696" y="30175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📊  每日摘要推播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82696" y="34015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今日工單/完工數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明日待出件清單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低庫存預警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82696" y="4279392"/>
            <a:ext cx="1463040" cy="256032"/>
          </a:xfrm>
          <a:prstGeom prst="roundRect">
            <a:avLst/>
          </a:prstGeom>
          <a:solidFill>
            <a:srgbClr val="1A3D55"/>
          </a:solidFill>
          <a:ln w="12700">
            <a:solidFill>
              <a:srgbClr val="2A5A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C7A0"/>
                </a:solidFill>
              </a:rPr>
              <a:t>排程+LINE Push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17336" y="2926080"/>
            <a:ext cx="2743200" cy="1737360"/>
          </a:xfrm>
          <a:prstGeom prst="rect">
            <a:avLst/>
          </a:prstGeom>
          <a:solidFill>
            <a:srgbClr val="14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2926080"/>
            <a:ext cx="27432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27064" y="30175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📈  進貨趨勢預測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27064" y="34015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依歷史領用頻率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預測零件需求時點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5AA"/>
                </a:solidFill>
              </a:rPr>
              <a:t>建議採購量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27064" y="4279392"/>
            <a:ext cx="1463040" cy="256032"/>
          </a:xfrm>
          <a:prstGeom prst="roundRect">
            <a:avLst/>
          </a:prstGeom>
          <a:solidFill>
            <a:srgbClr val="1A3D55"/>
          </a:solidFill>
          <a:ln w="12700">
            <a:solidFill>
              <a:srgbClr val="2A5A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C7A0"/>
                </a:solidFill>
              </a:rPr>
              <a:t>趨勢分析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三階段導入計畫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Phase 1  |  6-8 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核心維修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" y="1856232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196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LINE Bot + 員工綁定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3317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9514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客戶主檔 + 三級定價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807208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706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維修工單（建/報工/完工）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282696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461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AI 語音/文字語意建單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3758184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2160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PDF 結算單 + LINE 推播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4233672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19709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應收帳款（維修）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" y="470916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67258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後台管理介面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7832" y="914400"/>
            <a:ext cx="274320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914400"/>
            <a:ext cx="274320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Phase 2  |  4-6 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27832" y="12618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銷售 + 庫存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29000" y="1856232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18196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整機主檔（新機+二手機）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2331720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6744" y="229514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報價單 / 銷貨單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9000" y="2807208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6744" y="27706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零件庫存（A 類優先）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3282696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66744" y="32461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進貨管理+安全庫存預警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29000" y="3758184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66744" y="372160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電子發票（B2B+B2C）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29000" y="4233672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66744" y="419709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應收應付帳款整合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29000" y="4709160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66744" y="467258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基本業績報表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81344" y="914400"/>
            <a:ext cx="274320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0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81344" y="914400"/>
            <a:ext cx="2743200" cy="777240"/>
          </a:xfrm>
          <a:prstGeom prst="rect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1344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Phase 3  |  4 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81344" y="12618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進階分析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2512" y="1856232"/>
            <a:ext cx="164592" cy="164592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0256" y="18196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庫存周轉率/呆料分析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82512" y="2331720"/>
            <a:ext cx="164592" cy="164592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229514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零件機型相容對應表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82512" y="2807208"/>
            <a:ext cx="164592" cy="164592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0256" y="27706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AI 進貨預測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82512" y="3282696"/>
            <a:ext cx="164592" cy="164592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0256" y="32461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每日/週報 LINE 推播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82512" y="3758184"/>
            <a:ext cx="164592" cy="164592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0256" y="372160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維修歷史查詢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82512" y="4233672"/>
            <a:ext cx="164592" cy="164592"/>
          </a:xfrm>
          <a:prstGeom prst="ellipse">
            <a:avLst/>
          </a:prstGeom>
          <a:solidFill>
            <a:srgbClr val="1B4072"/>
          </a:solidFill>
          <a:ln w="12700">
            <a:solidFill>
              <a:srgbClr val="1B40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0256" y="419709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季節性工作量預測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技術架構 - 沿用成熟多租戶 ERP 模板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5C3E"/>
                </a:solidFill>
              </a:rPr>
              <a:t>基於已成熟運行的多租戶 ERP 模板，大幅降低開發風險與成本，預估可節省 30-40% 開發時程。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719072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7922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" y="226771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Express 5 + 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" y="258775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後端 API 伺服器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84248" y="1719072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84248" y="17922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🐘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9112" y="226771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PostgreSQL+Prisma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9112" y="258775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資料庫 + ORM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1719072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17922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67328" y="226771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Fly.io 台灣節點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67328" y="258775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雲端部署 24h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1719072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17922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💚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95544" y="226771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LINE Messaging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95544" y="258775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主操作介面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68896" y="1719072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68896" y="17922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226771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LIFF 應用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58775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複雜表單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108960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10896" y="36576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Claude Haiku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" y="39776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語意解析 AI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84248" y="3108960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84248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039112" y="36576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OpenAI Whisper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39112" y="39776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語音轉文字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12464" y="3108960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12464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767328" y="36576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綠界科技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67328" y="39776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電子發票串接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40680" y="3108960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40680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95544" y="36576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PDFKit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95544" y="39776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工單/銷貨 PDF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68896" y="3108960"/>
            <a:ext cx="16276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68896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223760" y="36576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Admin Web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39776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後台管理介面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5C3E"/>
          </a:solidFill>
          <a:ln w="12700">
            <a:solidFill>
              <a:srgbClr val="1F5C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客戶確認清單 - 今日需討論確認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1143000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客戶等級名稱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三級名稱是否符合實際稱謂？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36592" y="960120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960120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1143000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工時費標準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93792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各等級工時費基準與折扣如何設定？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655064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655064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" y="1837944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零件料號格式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目前使用的料號命名規則為何？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36592" y="1655064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1655064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1837944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A 類零件清單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93792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初期要納管的高單價零件約幾項？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350008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350008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" y="2532888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386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二手機整備流程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收購後是否有固定整備工序需記錄？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350008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350008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3752" y="2532888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2386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技師人數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93792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幾位技師？需個別業績統計嗎？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044952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044952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" y="3227832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081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電子發票需求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B2C 要支援手機載具/自然人憑證？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36592" y="3044952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3044952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73752" y="3227832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3081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到府維修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93792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有到府服務嗎？需記錄地點行程？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3739896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6032" y="3739896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3192" y="3922776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現有 Excel 資料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3232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客戶/零件資料是否需轉移匯入？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36592" y="3739896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36592" y="3739896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73752" y="3922776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93792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LINE 官方帳號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93792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已有 LINE 官方帳號或需新申請？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" y="4434840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56032" y="4434840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3192" y="4617720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4471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供應商數量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3232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主要零件供應商有幾家？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36592" y="4434840"/>
            <a:ext cx="42245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36592" y="4434840"/>
            <a:ext cx="54864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73752" y="4617720"/>
            <a:ext cx="228600" cy="228600"/>
          </a:xfrm>
          <a:prstGeom prst="ellipse">
            <a:avLst/>
          </a:prstGeom>
          <a:solidFill>
            <a:srgbClr val="F8FAF8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93792" y="4471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序號/保固管理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93792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新機是否需登記序號與保固日期？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5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下一步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1.  確認今日提案內容無誤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585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2.  逐項完成客戶確認清單（第 10 頁）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254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3.  確認 Phase 1 功能範圍與時程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39242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4.  確認電子發票廠商（建議：綠界科技）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9593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F3DC"/>
                </a:solidFill>
              </a:rPr>
              <a:t>5.  匯出本提案 -&gt; 交接 Claude Code 開始 Phase 1 開發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22"/>
          </a:solidFill>
          <a:ln w="12700">
            <a:solidFill>
              <a:srgbClr val="1A2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</a:rPr>
              <a:t>農機設備維修販售 ERP 系統架構提案 v1.0  |  2026-06-12  |  確認後即可進入 Phase 1 開發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agri-erp</dc:title>
  <dc:subject>PptxGenJS Presentation</dc:subject>
  <dc:creator>PptxGenJS</dc:creator>
  <cp:lastModifiedBy>PptxGenJS</cp:lastModifiedBy>
  <cp:revision>1</cp:revision>
  <dcterms:created xsi:type="dcterms:W3CDTF">2026-06-12T14:03:53Z</dcterms:created>
  <dcterms:modified xsi:type="dcterms:W3CDTF">2026-06-12T14:03:53Z</dcterms:modified>
</cp:coreProperties>
</file>